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CLSDirect project team, one slide, emphasizing collaboration over hierarchy. Every box leads with the team or responsibility, then the person: Project Lead (Shyam); Server-Side (Garima, lead) with IDP &amp; Java SME (Yan), Release &amp; Change (Hussain), Java Devs (Ankur &amp; Shubham); UI (Chirag, lead) with POC work (Binod), AutoQA (Rufin), UI Devs (Rohan &amp; Pallavi, Rohan also leads that offshore pod); UX Designer (Madhav); Scrum Master (Preethi). Below the dashed "collaborates with" line, teams that work with this group but do not report to Shyam: Data Team (David, Mustafa, Ujjwal), BA Team (Ismaeel, Sudip), Product (Aravind), PM Team (Ankur, a different person from the Ankur on server-side), QA (Rajnikanth, lead) with offshore QA engineers Rohini, Vandana, Chaya, Neha, Anjali, Medha and Shivraj, and Architecture (Abhijit).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CLS Hybrid Agile 1.0 - the six ceremonies the team runs every sprint, shown as a continuous loop around a central "Sprint Cycle" hub: Sprint Planning, Daily Scrum, Demo &amp; Feedback Sessions, Release Retrospective, Backlog Grooming, and Story Sizing &amp; Estimation. A "NEW" badge marks Story Sizing because Agile Poker was introduced this year for that ceremony, called out again in the highlighted banner at the bottom: it has already proven effective for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maturity journey for CLS Hybrid Agile. Last year: the process was formalized and documented. This year: it has been effectively put into practice, driven by team training and discipline (including the successful introduction of Agile Poker). A dashed "today" line marks where the team stands now. Next: the process document will be updated to version 1.1, with the estimation process fully described. Then: v1.1 will be published for management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8255000" y="4572000"/>
            <a:ext cx="3937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77400" y="254000"/>
            <a:ext cx="1701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CLS</a:t>
            </a:r>
            <a:r>
              <a:rPr lang="en-US" sz="1300" b="1" dirty="0">
                <a:solidFill>
                  <a:srgbClr val="E85C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Direct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355600"/>
            <a:ext cx="6540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CLSDirect Project Team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12800" y="78740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connected team, working closely across every discipline.</a:t>
            </a:r>
            <a:endParaRPr lang="en-US" sz="1200" dirty="0"/>
          </a:p>
        </p:txBody>
      </p:sp>
      <p:pic>
        <p:nvPicPr>
          <p:cNvPr id="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62200" y="2101827"/>
            <a:ext cx="3784600" cy="482600"/>
          </a:xfrm>
          <a:prstGeom prst="rect">
            <a:avLst/>
          </a:prstGeom>
        </p:spPr>
      </p:pic>
      <p:pic>
        <p:nvPicPr>
          <p:cNvPr id="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4200" y="2101827"/>
            <a:ext cx="482600" cy="482600"/>
          </a:xfrm>
          <a:prstGeom prst="rect">
            <a:avLst/>
          </a:prstGeom>
        </p:spPr>
      </p:pic>
      <p:pic>
        <p:nvPicPr>
          <p:cNvPr id="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45200" y="2101827"/>
            <a:ext cx="2387600" cy="482600"/>
          </a:xfrm>
          <a:prstGeom prst="rect">
            <a:avLst/>
          </a:prstGeom>
        </p:spPr>
      </p:pic>
      <p:pic>
        <p:nvPicPr>
          <p:cNvPr id="9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45200" y="2101827"/>
            <a:ext cx="4419600" cy="482600"/>
          </a:xfrm>
          <a:prstGeom prst="rect">
            <a:avLst/>
          </a:prstGeom>
        </p:spPr>
      </p:pic>
      <p:pic>
        <p:nvPicPr>
          <p:cNvPr id="10" name="Image 5" descr="connector">    </p:cNvPr>
          <p:cNvPicPr>
            <a:picLocks noChangeAspect="1"/>
          </p:cNvPicPr>
          <p:nvPr/>
        </p:nvPicPr>
        <p:blipFill>
          <a:blip r:embed="rId6"/>
          <a:srcRect l="-6" r="-6" t="0" b="0"/>
          <a:stretch/>
        </p:blipFill>
        <p:spPr>
          <a:xfrm>
            <a:off x="1651000" y="4483100"/>
            <a:ext cx="4495800" cy="196827"/>
          </a:xfrm>
          <a:prstGeom prst="rect">
            <a:avLst/>
          </a:prstGeom>
        </p:spPr>
      </p:pic>
      <p:pic>
        <p:nvPicPr>
          <p:cNvPr id="11" name="Image 6" descr="connector">    </p:cNvPr>
          <p:cNvPicPr>
            <a:picLocks noChangeAspect="1"/>
          </p:cNvPicPr>
          <p:nvPr/>
        </p:nvPicPr>
        <p:blipFill>
          <a:blip r:embed="rId7"/>
          <a:srcRect l="-5" r="-5" t="0" b="0"/>
          <a:stretch/>
        </p:blipFill>
        <p:spPr>
          <a:xfrm>
            <a:off x="3486127" y="4483100"/>
            <a:ext cx="2660627" cy="196827"/>
          </a:xfrm>
          <a:prstGeom prst="rect">
            <a:avLst/>
          </a:prstGeom>
        </p:spPr>
      </p:pic>
      <p:pic>
        <p:nvPicPr>
          <p:cNvPr id="12" name="Image 7" descr="connector">    </p:cNvPr>
          <p:cNvPicPr>
            <a:picLocks noChangeAspect="1"/>
          </p:cNvPicPr>
          <p:nvPr/>
        </p:nvPicPr>
        <p:blipFill>
          <a:blip r:embed="rId8"/>
          <a:srcRect l="-5" r="-5" t="0" b="0"/>
          <a:stretch/>
        </p:blipFill>
        <p:spPr>
          <a:xfrm>
            <a:off x="5162527" y="4483100"/>
            <a:ext cx="984227" cy="196827"/>
          </a:xfrm>
          <a:prstGeom prst="rect">
            <a:avLst/>
          </a:prstGeom>
        </p:spPr>
      </p:pic>
      <p:pic>
        <p:nvPicPr>
          <p:cNvPr id="13" name="Image 8" descr="connector">    </p:cNvPr>
          <p:cNvPicPr>
            <a:picLocks noChangeAspect="1"/>
          </p:cNvPicPr>
          <p:nvPr/>
        </p:nvPicPr>
        <p:blipFill>
          <a:blip r:embed="rId9"/>
          <a:srcRect l="-6" r="-6" t="0" b="0"/>
          <a:stretch/>
        </p:blipFill>
        <p:spPr>
          <a:xfrm>
            <a:off x="6045200" y="4483100"/>
            <a:ext cx="800100" cy="196827"/>
          </a:xfrm>
          <a:prstGeom prst="rect">
            <a:avLst/>
          </a:prstGeom>
        </p:spPr>
      </p:pic>
      <p:pic>
        <p:nvPicPr>
          <p:cNvPr id="14" name="Image 9" descr="connector">    </p:cNvPr>
          <p:cNvPicPr>
            <a:picLocks noChangeAspect="1"/>
          </p:cNvPicPr>
          <p:nvPr/>
        </p:nvPicPr>
        <p:blipFill>
          <a:blip r:embed="rId10"/>
          <a:srcRect l="-6" r="-6" t="0" b="0"/>
          <a:stretch/>
        </p:blipFill>
        <p:spPr>
          <a:xfrm>
            <a:off x="6045200" y="4483100"/>
            <a:ext cx="2730500" cy="196827"/>
          </a:xfrm>
          <a:prstGeom prst="rect">
            <a:avLst/>
          </a:prstGeom>
        </p:spPr>
      </p:pic>
      <p:pic>
        <p:nvPicPr>
          <p:cNvPr id="15" name="Image 10" descr="connector">    </p:cNvPr>
          <p:cNvPicPr>
            <a:picLocks noChangeAspect="1"/>
          </p:cNvPicPr>
          <p:nvPr/>
        </p:nvPicPr>
        <p:blipFill>
          <a:blip r:embed="rId11"/>
          <a:srcRect l="-6" r="-6" t="0" b="0"/>
          <a:stretch/>
        </p:blipFill>
        <p:spPr>
          <a:xfrm>
            <a:off x="6045200" y="4483100"/>
            <a:ext cx="4654527" cy="196827"/>
          </a:xfrm>
          <a:prstGeom prst="rect">
            <a:avLst/>
          </a:prstGeom>
        </p:spPr>
      </p:pic>
      <p:sp>
        <p:nvSpPr>
          <p:cNvPr id="16" name="Shape 3"/>
          <p:cNvSpPr/>
          <p:nvPr/>
        </p:nvSpPr>
        <p:spPr>
          <a:xfrm>
            <a:off x="5273675" y="1146175"/>
            <a:ext cx="1644650" cy="1092593"/>
          </a:xfrm>
          <a:prstGeom prst="roundRect">
            <a:avLst>
              <a:gd name="adj" fmla="val 1365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90500" dist="88900" dir="5400000">
              <a:srgbClr val="0F2A54">
                <a:alpha val="10000"/>
              </a:srgbClr>
            </a:outerShdw>
          </a:effectLst>
        </p:spPr>
      </p:sp>
      <p:sp>
        <p:nvSpPr>
          <p:cNvPr id="17" name="Shape 4"/>
          <p:cNvSpPr/>
          <p:nvPr/>
        </p:nvSpPr>
        <p:spPr>
          <a:xfrm>
            <a:off x="5930900" y="126321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2E8F5"/>
          </a:solidFill>
          <a:ln/>
        </p:spPr>
      </p:sp>
      <p:sp>
        <p:nvSpPr>
          <p:cNvPr id="18" name="Text 5"/>
          <p:cNvSpPr/>
          <p:nvPr/>
        </p:nvSpPr>
        <p:spPr>
          <a:xfrm>
            <a:off x="6049680" y="1330498"/>
            <a:ext cx="14339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</a:t>
            </a:r>
            <a:endParaRPr lang="en-US" sz="1100" dirty="0"/>
          </a:p>
        </p:txBody>
      </p:sp>
      <p:sp>
        <p:nvSpPr>
          <p:cNvPr id="19" name="Text 6"/>
          <p:cNvSpPr/>
          <p:nvPr/>
        </p:nvSpPr>
        <p:spPr>
          <a:xfrm>
            <a:off x="5589847" y="1644211"/>
            <a:ext cx="10122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Project Lead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5834426" y="1908371"/>
            <a:ext cx="5231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Shyam</a:t>
            </a:r>
            <a:endParaRPr lang="en-US" sz="1200" dirty="0"/>
          </a:p>
        </p:txBody>
      </p:sp>
      <p:sp>
        <p:nvSpPr>
          <p:cNvPr id="21" name="Shape 8"/>
          <p:cNvSpPr/>
          <p:nvPr/>
        </p:nvSpPr>
        <p:spPr>
          <a:xfrm>
            <a:off x="955675" y="2536802"/>
            <a:ext cx="2914650" cy="1630195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22" name="Shape 9"/>
          <p:cNvSpPr/>
          <p:nvPr/>
        </p:nvSpPr>
        <p:spPr>
          <a:xfrm>
            <a:off x="1098111" y="2733825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E3DE"/>
          </a:solidFill>
          <a:ln/>
        </p:spPr>
      </p:sp>
      <p:sp>
        <p:nvSpPr>
          <p:cNvPr id="23" name="Text 10"/>
          <p:cNvSpPr/>
          <p:nvPr/>
        </p:nvSpPr>
        <p:spPr>
          <a:xfrm>
            <a:off x="1212919" y="2801112"/>
            <a:ext cx="15138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143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</a:t>
            </a:r>
            <a:endParaRPr lang="en-US" sz="1100" dirty="0"/>
          </a:p>
        </p:txBody>
      </p:sp>
      <p:sp>
        <p:nvSpPr>
          <p:cNvPr id="24" name="Text 11"/>
          <p:cNvSpPr/>
          <p:nvPr/>
        </p:nvSpPr>
        <p:spPr>
          <a:xfrm>
            <a:off x="1517211" y="2679238"/>
            <a:ext cx="1014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Server-Side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1517211" y="2905298"/>
            <a:ext cx="1014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Garima · Lead</a:t>
            </a:r>
            <a:endParaRPr lang="en-US" sz="1200" dirty="0"/>
          </a:p>
        </p:txBody>
      </p:sp>
      <p:pic>
        <p:nvPicPr>
          <p:cNvPr id="26" name="Image 11" descr="line">    </p:cNvPr>
          <p:cNvPicPr>
            <a:picLocks noChangeAspect="1"/>
          </p:cNvPicPr>
          <p:nvPr/>
        </p:nvPicPr>
        <p:blipFill>
          <a:blip r:embed="rId12"/>
          <a:srcRect l="-3726" r="-3726" t="0" b="0"/>
          <a:stretch/>
        </p:blipFill>
        <p:spPr>
          <a:xfrm>
            <a:off x="1098111" y="3182158"/>
            <a:ext cx="2629777" cy="11823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1098111" y="3257481"/>
            <a:ext cx="27086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IDP &amp; Java SME</a:t>
            </a:r>
            <a:r>
              <a:rPr lang="en-US" sz="1200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Yan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1098111" y="3534341"/>
            <a:ext cx="27086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Release &amp; Change</a:t>
            </a:r>
            <a:r>
              <a:rPr lang="en-US" sz="1200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Hussain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1098111" y="3811201"/>
            <a:ext cx="27086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Java Devs</a:t>
            </a:r>
            <a:r>
              <a:rPr lang="en-US" sz="1200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Ankur &amp; Shubham</a:t>
            </a:r>
            <a:endParaRPr lang="en-US" sz="1200" dirty="0"/>
          </a:p>
        </p:txBody>
      </p:sp>
      <p:sp>
        <p:nvSpPr>
          <p:cNvPr id="30" name="Shape 16"/>
          <p:cNvSpPr/>
          <p:nvPr/>
        </p:nvSpPr>
        <p:spPr>
          <a:xfrm>
            <a:off x="4257675" y="2536802"/>
            <a:ext cx="2914650" cy="1630195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31" name="Shape 17"/>
          <p:cNvSpPr/>
          <p:nvPr/>
        </p:nvSpPr>
        <p:spPr>
          <a:xfrm>
            <a:off x="4400111" y="2733825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32" name="Text 18"/>
          <p:cNvSpPr/>
          <p:nvPr/>
        </p:nvSpPr>
        <p:spPr>
          <a:xfrm>
            <a:off x="4516166" y="2801112"/>
            <a:ext cx="14884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1100" dirty="0"/>
          </a:p>
        </p:txBody>
      </p:sp>
      <p:sp>
        <p:nvSpPr>
          <p:cNvPr id="33" name="Text 19"/>
          <p:cNvSpPr/>
          <p:nvPr/>
        </p:nvSpPr>
        <p:spPr>
          <a:xfrm>
            <a:off x="4819211" y="2679238"/>
            <a:ext cx="961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UI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4819211" y="2905298"/>
            <a:ext cx="961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Chirag · Lead</a:t>
            </a:r>
            <a:endParaRPr lang="en-US" sz="1200" dirty="0"/>
          </a:p>
        </p:txBody>
      </p:sp>
      <p:pic>
        <p:nvPicPr>
          <p:cNvPr id="35" name="Image 12" descr="line">    </p:cNvPr>
          <p:cNvPicPr>
            <a:picLocks noChangeAspect="1"/>
          </p:cNvPicPr>
          <p:nvPr/>
        </p:nvPicPr>
        <p:blipFill>
          <a:blip r:embed="rId13"/>
          <a:srcRect l="-3726" r="-3726" t="0" b="0"/>
          <a:stretch/>
        </p:blipFill>
        <p:spPr>
          <a:xfrm>
            <a:off x="4400111" y="3182158"/>
            <a:ext cx="2629777" cy="11823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4400111" y="3257481"/>
            <a:ext cx="27086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POC work</a:t>
            </a:r>
            <a:r>
              <a:rPr lang="en-US" sz="1200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Binod</a:t>
            </a:r>
            <a:endParaRPr lang="en-US" sz="1200" dirty="0"/>
          </a:p>
        </p:txBody>
      </p:sp>
      <p:sp>
        <p:nvSpPr>
          <p:cNvPr id="37" name="Text 22"/>
          <p:cNvSpPr/>
          <p:nvPr/>
        </p:nvSpPr>
        <p:spPr>
          <a:xfrm>
            <a:off x="4400111" y="3534341"/>
            <a:ext cx="27086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AutoQA</a:t>
            </a:r>
            <a:r>
              <a:rPr lang="en-US" sz="1200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Rufin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4400111" y="3811201"/>
            <a:ext cx="27086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UI Devs</a:t>
            </a:r>
            <a:r>
              <a:rPr lang="en-US" sz="1200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Rohan* &amp; Pallavi</a:t>
            </a:r>
            <a:endParaRPr lang="en-US" sz="1200" dirty="0"/>
          </a:p>
        </p:txBody>
      </p:sp>
      <p:sp>
        <p:nvSpPr>
          <p:cNvPr id="39" name="Shape 24"/>
          <p:cNvSpPr/>
          <p:nvPr/>
        </p:nvSpPr>
        <p:spPr>
          <a:xfrm>
            <a:off x="7559675" y="2536802"/>
            <a:ext cx="1644650" cy="1092593"/>
          </a:xfrm>
          <a:prstGeom prst="roundRect">
            <a:avLst>
              <a:gd name="adj" fmla="val 1365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40" name="Shape 25"/>
          <p:cNvSpPr/>
          <p:nvPr/>
        </p:nvSpPr>
        <p:spPr>
          <a:xfrm>
            <a:off x="8216900" y="26538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/>
        </p:spPr>
      </p:sp>
      <p:sp>
        <p:nvSpPr>
          <p:cNvPr id="41" name="Text 26"/>
          <p:cNvSpPr/>
          <p:nvPr/>
        </p:nvSpPr>
        <p:spPr>
          <a:xfrm>
            <a:off x="8324180" y="2721125"/>
            <a:ext cx="16643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</a:t>
            </a:r>
            <a:endParaRPr lang="en-US" sz="1100" dirty="0"/>
          </a:p>
        </p:txBody>
      </p:sp>
      <p:sp>
        <p:nvSpPr>
          <p:cNvPr id="42" name="Text 27"/>
          <p:cNvSpPr/>
          <p:nvPr/>
        </p:nvSpPr>
        <p:spPr>
          <a:xfrm>
            <a:off x="7892057" y="3034838"/>
            <a:ext cx="979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UX Designer</a:t>
            </a:r>
            <a:endParaRPr lang="en-US" sz="1200" dirty="0"/>
          </a:p>
        </p:txBody>
      </p:sp>
      <p:sp>
        <p:nvSpPr>
          <p:cNvPr id="43" name="Text 28"/>
          <p:cNvSpPr/>
          <p:nvPr/>
        </p:nvSpPr>
        <p:spPr>
          <a:xfrm>
            <a:off x="8079370" y="3298998"/>
            <a:ext cx="6052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Madhav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9591675" y="2536802"/>
            <a:ext cx="1644650" cy="1092593"/>
          </a:xfrm>
          <a:prstGeom prst="roundRect">
            <a:avLst>
              <a:gd name="adj" fmla="val 1365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45" name="Shape 30"/>
          <p:cNvSpPr/>
          <p:nvPr/>
        </p:nvSpPr>
        <p:spPr>
          <a:xfrm>
            <a:off x="10248900" y="26538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6E3FB"/>
          </a:solidFill>
          <a:ln/>
        </p:spPr>
      </p:sp>
      <p:sp>
        <p:nvSpPr>
          <p:cNvPr id="46" name="Text 31"/>
          <p:cNvSpPr/>
          <p:nvPr/>
        </p:nvSpPr>
        <p:spPr>
          <a:xfrm>
            <a:off x="10366756" y="2721125"/>
            <a:ext cx="1452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</a:t>
            </a:r>
            <a:endParaRPr lang="en-US" sz="1100" dirty="0"/>
          </a:p>
        </p:txBody>
      </p:sp>
      <p:sp>
        <p:nvSpPr>
          <p:cNvPr id="47" name="Text 32"/>
          <p:cNvSpPr/>
          <p:nvPr/>
        </p:nvSpPr>
        <p:spPr>
          <a:xfrm>
            <a:off x="9858340" y="3034838"/>
            <a:ext cx="1111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48" name="Text 33"/>
          <p:cNvSpPr/>
          <p:nvPr/>
        </p:nvSpPr>
        <p:spPr>
          <a:xfrm>
            <a:off x="10140466" y="3298998"/>
            <a:ext cx="5470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Preethi</a:t>
            </a:r>
            <a:endParaRPr lang="en-US" sz="1200" dirty="0"/>
          </a:p>
        </p:txBody>
      </p:sp>
      <p:sp>
        <p:nvSpPr>
          <p:cNvPr id="49" name="Shape 34"/>
          <p:cNvSpPr/>
          <p:nvPr/>
        </p:nvSpPr>
        <p:spPr>
          <a:xfrm>
            <a:off x="5080000" y="4254500"/>
            <a:ext cx="2032000" cy="34036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sp>
        <p:nvSpPr>
          <p:cNvPr id="50" name="Text 35"/>
          <p:cNvSpPr/>
          <p:nvPr/>
        </p:nvSpPr>
        <p:spPr>
          <a:xfrm>
            <a:off x="5180330" y="4318000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4754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COLLABORATES WITH</a:t>
            </a:r>
            <a:endParaRPr lang="en-US" sz="1200" dirty="0"/>
          </a:p>
        </p:txBody>
      </p:sp>
      <p:sp>
        <p:nvSpPr>
          <p:cNvPr id="51" name="Shape 36"/>
          <p:cNvSpPr/>
          <p:nvPr/>
        </p:nvSpPr>
        <p:spPr>
          <a:xfrm>
            <a:off x="815975" y="4632302"/>
            <a:ext cx="1771650" cy="1331353"/>
          </a:xfrm>
          <a:prstGeom prst="roundRect">
            <a:avLst>
              <a:gd name="adj" fmla="val 11209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14300" dist="50800" dir="5400000">
              <a:srgbClr val="24262B">
                <a:alpha val="5000"/>
              </a:srgbClr>
            </a:outerShdw>
          </a:effectLst>
        </p:spPr>
      </p:sp>
      <p:sp>
        <p:nvSpPr>
          <p:cNvPr id="52" name="Shape 37"/>
          <p:cNvSpPr/>
          <p:nvPr/>
        </p:nvSpPr>
        <p:spPr>
          <a:xfrm>
            <a:off x="1536700" y="47493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pic>
        <p:nvPicPr>
          <p:cNvPr id="53" name="Image 13" descr="Database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625600" y="4838238"/>
            <a:ext cx="152400" cy="15240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1280991" y="5143038"/>
            <a:ext cx="8415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Data Team</a:t>
            </a:r>
            <a:endParaRPr lang="en-US" sz="1200" dirty="0"/>
          </a:p>
        </p:txBody>
      </p:sp>
      <p:sp>
        <p:nvSpPr>
          <p:cNvPr id="55" name="Text 39"/>
          <p:cNvSpPr/>
          <p:nvPr/>
        </p:nvSpPr>
        <p:spPr>
          <a:xfrm>
            <a:off x="907611" y="5419898"/>
            <a:ext cx="15883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David, Mustafa, Ujjwal</a:t>
            </a:r>
            <a:endParaRPr lang="en-US" sz="1200" dirty="0"/>
          </a:p>
        </p:txBody>
      </p:sp>
      <p:sp>
        <p:nvSpPr>
          <p:cNvPr id="56" name="Shape 40"/>
          <p:cNvSpPr/>
          <p:nvPr/>
        </p:nvSpPr>
        <p:spPr>
          <a:xfrm>
            <a:off x="2714602" y="4632302"/>
            <a:ext cx="1644650" cy="1117993"/>
          </a:xfrm>
          <a:prstGeom prst="roundRect">
            <a:avLst>
              <a:gd name="adj" fmla="val 1334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14300" dist="50800" dir="5400000">
              <a:srgbClr val="24262B">
                <a:alpha val="5000"/>
              </a:srgbClr>
            </a:outerShdw>
          </a:effectLst>
        </p:spPr>
      </p:sp>
      <p:sp>
        <p:nvSpPr>
          <p:cNvPr id="57" name="Shape 41"/>
          <p:cNvSpPr/>
          <p:nvPr/>
        </p:nvSpPr>
        <p:spPr>
          <a:xfrm>
            <a:off x="3371827" y="47493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pic>
        <p:nvPicPr>
          <p:cNvPr id="58" name="Image 14" descr="Chart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460727" y="4838238"/>
            <a:ext cx="152400" cy="152400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3190286" y="5143038"/>
            <a:ext cx="6932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 Team</a:t>
            </a:r>
            <a:endParaRPr lang="en-US" sz="1200" dirty="0"/>
          </a:p>
        </p:txBody>
      </p:sp>
      <p:sp>
        <p:nvSpPr>
          <p:cNvPr id="60" name="Text 43"/>
          <p:cNvSpPr/>
          <p:nvPr/>
        </p:nvSpPr>
        <p:spPr>
          <a:xfrm>
            <a:off x="2963026" y="5419898"/>
            <a:ext cx="11477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Ismaeel, Sudip</a:t>
            </a:r>
            <a:endParaRPr lang="en-US" sz="1200" dirty="0"/>
          </a:p>
        </p:txBody>
      </p:sp>
      <p:sp>
        <p:nvSpPr>
          <p:cNvPr id="61" name="Shape 44"/>
          <p:cNvSpPr/>
          <p:nvPr/>
        </p:nvSpPr>
        <p:spPr>
          <a:xfrm>
            <a:off x="4486275" y="4632302"/>
            <a:ext cx="1454150" cy="1117993"/>
          </a:xfrm>
          <a:prstGeom prst="roundRect">
            <a:avLst>
              <a:gd name="adj" fmla="val 1334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14300" dist="50800" dir="5400000">
              <a:srgbClr val="24262B">
                <a:alpha val="5000"/>
              </a:srgbClr>
            </a:outerShdw>
          </a:effectLst>
        </p:spPr>
      </p:sp>
      <p:sp>
        <p:nvSpPr>
          <p:cNvPr id="62" name="Shape 45"/>
          <p:cNvSpPr/>
          <p:nvPr/>
        </p:nvSpPr>
        <p:spPr>
          <a:xfrm>
            <a:off x="5048227" y="47493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sp>
        <p:nvSpPr>
          <p:cNvPr id="63" name="Text 46"/>
          <p:cNvSpPr/>
          <p:nvPr/>
        </p:nvSpPr>
        <p:spPr>
          <a:xfrm>
            <a:off x="5139020" y="4825538"/>
            <a:ext cx="1993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</a:t>
            </a:r>
            <a:endParaRPr lang="en-US" sz="1000" dirty="0"/>
          </a:p>
        </p:txBody>
      </p:sp>
      <p:sp>
        <p:nvSpPr>
          <p:cNvPr id="64" name="Text 47"/>
          <p:cNvSpPr/>
          <p:nvPr/>
        </p:nvSpPr>
        <p:spPr>
          <a:xfrm>
            <a:off x="4878232" y="5143038"/>
            <a:ext cx="670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Product</a:t>
            </a:r>
            <a:endParaRPr lang="en-US" sz="1200" dirty="0"/>
          </a:p>
        </p:txBody>
      </p:sp>
      <p:sp>
        <p:nvSpPr>
          <p:cNvPr id="65" name="Text 48"/>
          <p:cNvSpPr/>
          <p:nvPr/>
        </p:nvSpPr>
        <p:spPr>
          <a:xfrm>
            <a:off x="4919241" y="5419898"/>
            <a:ext cx="5881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Aravind</a:t>
            </a:r>
            <a:endParaRPr lang="en-US" sz="1200" dirty="0"/>
          </a:p>
        </p:txBody>
      </p:sp>
      <p:sp>
        <p:nvSpPr>
          <p:cNvPr id="66" name="Shape 49"/>
          <p:cNvSpPr/>
          <p:nvPr/>
        </p:nvSpPr>
        <p:spPr>
          <a:xfrm>
            <a:off x="6067402" y="4632302"/>
            <a:ext cx="1454150" cy="1117993"/>
          </a:xfrm>
          <a:prstGeom prst="roundRect">
            <a:avLst>
              <a:gd name="adj" fmla="val 1334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14300" dist="50800" dir="5400000">
              <a:srgbClr val="24262B">
                <a:alpha val="5000"/>
              </a:srgbClr>
            </a:outerShdw>
          </a:effectLst>
        </p:spPr>
      </p:sp>
      <p:sp>
        <p:nvSpPr>
          <p:cNvPr id="67" name="Shape 50"/>
          <p:cNvSpPr/>
          <p:nvPr/>
        </p:nvSpPr>
        <p:spPr>
          <a:xfrm>
            <a:off x="6629353" y="47493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sp>
        <p:nvSpPr>
          <p:cNvPr id="68" name="Text 51"/>
          <p:cNvSpPr/>
          <p:nvPr/>
        </p:nvSpPr>
        <p:spPr>
          <a:xfrm>
            <a:off x="6708186" y="4825538"/>
            <a:ext cx="22333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</a:t>
            </a:r>
            <a:endParaRPr lang="en-US" sz="1000" dirty="0"/>
          </a:p>
        </p:txBody>
      </p:sp>
      <p:sp>
        <p:nvSpPr>
          <p:cNvPr id="69" name="Text 52"/>
          <p:cNvSpPr/>
          <p:nvPr/>
        </p:nvSpPr>
        <p:spPr>
          <a:xfrm>
            <a:off x="6438762" y="5143038"/>
            <a:ext cx="7113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PM Team</a:t>
            </a:r>
            <a:endParaRPr lang="en-US" sz="1200" dirty="0"/>
          </a:p>
        </p:txBody>
      </p:sp>
      <p:sp>
        <p:nvSpPr>
          <p:cNvPr id="70" name="Text 53"/>
          <p:cNvSpPr/>
          <p:nvPr/>
        </p:nvSpPr>
        <p:spPr>
          <a:xfrm>
            <a:off x="6564515" y="5419898"/>
            <a:ext cx="4598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Ankur</a:t>
            </a:r>
            <a:endParaRPr lang="en-US" sz="1200" dirty="0"/>
          </a:p>
        </p:txBody>
      </p:sp>
      <p:sp>
        <p:nvSpPr>
          <p:cNvPr id="71" name="Shape 54"/>
          <p:cNvSpPr/>
          <p:nvPr/>
        </p:nvSpPr>
        <p:spPr>
          <a:xfrm>
            <a:off x="7648575" y="4632302"/>
            <a:ext cx="2152650" cy="1821573"/>
          </a:xfrm>
          <a:prstGeom prst="roundRect">
            <a:avLst>
              <a:gd name="adj" fmla="val 8192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14300" dist="50800" dir="5400000">
              <a:srgbClr val="24262B">
                <a:alpha val="5000"/>
              </a:srgbClr>
            </a:outerShdw>
          </a:effectLst>
        </p:spPr>
      </p:sp>
      <p:sp>
        <p:nvSpPr>
          <p:cNvPr id="72" name="Shape 55"/>
          <p:cNvSpPr/>
          <p:nvPr/>
        </p:nvSpPr>
        <p:spPr>
          <a:xfrm>
            <a:off x="8559800" y="47493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sp>
        <p:nvSpPr>
          <p:cNvPr id="73" name="Text 56"/>
          <p:cNvSpPr/>
          <p:nvPr/>
        </p:nvSpPr>
        <p:spPr>
          <a:xfrm>
            <a:off x="8643574" y="4825538"/>
            <a:ext cx="2134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</a:t>
            </a:r>
            <a:endParaRPr lang="en-US" sz="1000" dirty="0"/>
          </a:p>
        </p:txBody>
      </p:sp>
      <p:sp>
        <p:nvSpPr>
          <p:cNvPr id="74" name="Text 57"/>
          <p:cNvSpPr/>
          <p:nvPr/>
        </p:nvSpPr>
        <p:spPr>
          <a:xfrm>
            <a:off x="8591850" y="5143038"/>
            <a:ext cx="2661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QA</a:t>
            </a:r>
            <a:endParaRPr lang="en-US" sz="1200" dirty="0"/>
          </a:p>
        </p:txBody>
      </p:sp>
      <p:sp>
        <p:nvSpPr>
          <p:cNvPr id="75" name="Text 58"/>
          <p:cNvSpPr/>
          <p:nvPr/>
        </p:nvSpPr>
        <p:spPr>
          <a:xfrm>
            <a:off x="8109804" y="5419898"/>
            <a:ext cx="1230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Rajnikanth · Lead</a:t>
            </a:r>
            <a:endParaRPr lang="en-US" sz="1200" dirty="0"/>
          </a:p>
        </p:txBody>
      </p:sp>
      <p:sp>
        <p:nvSpPr>
          <p:cNvPr id="76" name="Text 59"/>
          <p:cNvSpPr/>
          <p:nvPr/>
        </p:nvSpPr>
        <p:spPr>
          <a:xfrm>
            <a:off x="7736833" y="5696758"/>
            <a:ext cx="197613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Rohini, Vandana, Chaya, Neha, Anjali, Medha, Shivraj</a:t>
            </a:r>
            <a:endParaRPr lang="en-US" sz="1200" dirty="0"/>
          </a:p>
        </p:txBody>
      </p:sp>
      <p:sp>
        <p:nvSpPr>
          <p:cNvPr id="77" name="Shape 60"/>
          <p:cNvSpPr/>
          <p:nvPr/>
        </p:nvSpPr>
        <p:spPr>
          <a:xfrm>
            <a:off x="9921875" y="4632302"/>
            <a:ext cx="1454150" cy="1117993"/>
          </a:xfrm>
          <a:prstGeom prst="roundRect">
            <a:avLst>
              <a:gd name="adj" fmla="val 13348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14300" dist="50800" dir="5400000">
              <a:srgbClr val="24262B">
                <a:alpha val="5000"/>
              </a:srgbClr>
            </a:outerShdw>
          </a:effectLst>
        </p:spPr>
      </p:sp>
      <p:sp>
        <p:nvSpPr>
          <p:cNvPr id="78" name="Shape 61"/>
          <p:cNvSpPr/>
          <p:nvPr/>
        </p:nvSpPr>
        <p:spPr>
          <a:xfrm>
            <a:off x="10483827" y="474933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AECF0"/>
          </a:solidFill>
          <a:ln/>
        </p:spPr>
      </p:sp>
      <p:sp>
        <p:nvSpPr>
          <p:cNvPr id="79" name="Text 62"/>
          <p:cNvSpPr/>
          <p:nvPr/>
        </p:nvSpPr>
        <p:spPr>
          <a:xfrm>
            <a:off x="10563399" y="4825538"/>
            <a:ext cx="2218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Ab</a:t>
            </a:r>
            <a:endParaRPr lang="en-US" sz="1000" dirty="0"/>
          </a:p>
        </p:txBody>
      </p:sp>
      <p:sp>
        <p:nvSpPr>
          <p:cNvPr id="80" name="Text 63"/>
          <p:cNvSpPr/>
          <p:nvPr/>
        </p:nvSpPr>
        <p:spPr>
          <a:xfrm>
            <a:off x="10128827" y="5143038"/>
            <a:ext cx="10401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1" name="Text 64"/>
          <p:cNvSpPr/>
          <p:nvPr/>
        </p:nvSpPr>
        <p:spPr>
          <a:xfrm>
            <a:off x="10396497" y="5419898"/>
            <a:ext cx="5048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Abhijit</a:t>
            </a:r>
            <a:endParaRPr lang="en-US" sz="1200" dirty="0"/>
          </a:p>
        </p:txBody>
      </p:sp>
      <p:sp>
        <p:nvSpPr>
          <p:cNvPr id="82" name="Text 65"/>
          <p:cNvSpPr/>
          <p:nvPr/>
        </p:nvSpPr>
        <p:spPr>
          <a:xfrm>
            <a:off x="812800" y="6492240"/>
            <a:ext cx="10791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8F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*Rohan also leads the offshore pod.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8255000" y="4572000"/>
            <a:ext cx="3937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77400" y="177800"/>
            <a:ext cx="1701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CLS</a:t>
            </a:r>
            <a:r>
              <a:rPr lang="en-US" sz="1300" b="1" dirty="0">
                <a:solidFill>
                  <a:srgbClr val="E85C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Direct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177800"/>
            <a:ext cx="850265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CLS Hybrid Agile 1.0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12800" y="520700"/>
            <a:ext cx="91567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team runs every sprint — six ceremonies, one continuous loop.</a:t>
            </a:r>
            <a:endParaRPr lang="en-US" sz="1100" dirty="0"/>
          </a:p>
        </p:txBody>
      </p:sp>
      <p:pic>
        <p:nvPicPr>
          <p:cNvPr id="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2500" y="1333500"/>
            <a:ext cx="1993900" cy="1206500"/>
          </a:xfrm>
          <a:prstGeom prst="rect">
            <a:avLst/>
          </a:prstGeom>
        </p:spPr>
      </p:pic>
      <p:pic>
        <p:nvPicPr>
          <p:cNvPr id="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99400" y="2413000"/>
            <a:ext cx="127000" cy="2286000"/>
          </a:xfrm>
          <a:prstGeom prst="rect">
            <a:avLst/>
          </a:prstGeom>
        </p:spPr>
      </p:pic>
      <p:pic>
        <p:nvPicPr>
          <p:cNvPr id="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32500" y="4572000"/>
            <a:ext cx="1993900" cy="1206500"/>
          </a:xfrm>
          <a:prstGeom prst="rect">
            <a:avLst/>
          </a:prstGeom>
        </p:spPr>
      </p:pic>
      <p:pic>
        <p:nvPicPr>
          <p:cNvPr id="9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165600" y="4572000"/>
            <a:ext cx="1993900" cy="1206500"/>
          </a:xfrm>
          <a:prstGeom prst="rect">
            <a:avLst/>
          </a:prstGeom>
        </p:spPr>
      </p:pic>
      <p:pic>
        <p:nvPicPr>
          <p:cNvPr id="10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165600" y="2413000"/>
            <a:ext cx="127000" cy="2286000"/>
          </a:xfrm>
          <a:prstGeom prst="rect">
            <a:avLst/>
          </a:prstGeom>
        </p:spPr>
      </p:pic>
      <p:pic>
        <p:nvPicPr>
          <p:cNvPr id="11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165600" y="1333500"/>
            <a:ext cx="1993900" cy="1206500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5143500" y="3111500"/>
            <a:ext cx="1905000" cy="1069340"/>
          </a:xfrm>
          <a:prstGeom prst="roundRect">
            <a:avLst>
              <a:gd name="adj" fmla="val 14252"/>
            </a:avLst>
          </a:prstGeom>
          <a:solidFill>
            <a:srgbClr val="0F2A54"/>
          </a:solidFill>
          <a:ln/>
          <a:effectLst>
            <a:outerShdw sx="100000" sy="100000" kx="0" ky="0" algn="bl" rotWithShape="0" blurRad="203200" dist="101600" dir="5400000">
              <a:srgbClr val="0F2A54">
                <a:alpha val="20000"/>
              </a:srgbClr>
            </a:outerShdw>
          </a:effectLst>
        </p:spPr>
      </p:sp>
      <p:sp>
        <p:nvSpPr>
          <p:cNvPr id="13" name="Shape 4"/>
          <p:cNvSpPr/>
          <p:nvPr/>
        </p:nvSpPr>
        <p:spPr>
          <a:xfrm>
            <a:off x="5930900" y="32385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4" name="Image 7" descr="Lightni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13427" y="3321027"/>
            <a:ext cx="165100" cy="1651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605873" y="3606800"/>
            <a:ext cx="9802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Sprint Cycle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5419990" y="3858260"/>
            <a:ext cx="135197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repeats every sprint</a:t>
            </a:r>
            <a:endParaRPr lang="en-US" sz="1100" dirty="0"/>
          </a:p>
        </p:txBody>
      </p:sp>
      <p:sp>
        <p:nvSpPr>
          <p:cNvPr id="17" name="Shape 7"/>
          <p:cNvSpPr/>
          <p:nvPr/>
        </p:nvSpPr>
        <p:spPr>
          <a:xfrm>
            <a:off x="5368902" y="923902"/>
            <a:ext cx="1454150" cy="803033"/>
          </a:xfrm>
          <a:prstGeom prst="roundRect">
            <a:avLst>
              <a:gd name="adj" fmla="val 18583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18" name="Shape 8"/>
          <p:cNvSpPr/>
          <p:nvPr/>
        </p:nvSpPr>
        <p:spPr>
          <a:xfrm>
            <a:off x="5943554" y="104093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2E8F5"/>
          </a:solidFill>
          <a:ln/>
        </p:spPr>
      </p:sp>
      <p:pic>
        <p:nvPicPr>
          <p:cNvPr id="19" name="Image 8" descr="Play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26081" y="1123465"/>
            <a:ext cx="139700" cy="1397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479981" y="1396538"/>
            <a:ext cx="12319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21" name="Shape 10"/>
          <p:cNvSpPr/>
          <p:nvPr/>
        </p:nvSpPr>
        <p:spPr>
          <a:xfrm>
            <a:off x="7235802" y="2003402"/>
            <a:ext cx="1454150" cy="803033"/>
          </a:xfrm>
          <a:prstGeom prst="roundRect">
            <a:avLst>
              <a:gd name="adj" fmla="val 18583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22" name="Shape 11"/>
          <p:cNvSpPr/>
          <p:nvPr/>
        </p:nvSpPr>
        <p:spPr>
          <a:xfrm>
            <a:off x="7810453" y="212043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E3DE"/>
          </a:solidFill>
          <a:ln/>
        </p:spPr>
      </p:sp>
      <p:pic>
        <p:nvPicPr>
          <p:cNvPr id="23" name="Image 9" descr="Clock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892981" y="2202966"/>
            <a:ext cx="139700" cy="1397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485980" y="2476038"/>
            <a:ext cx="9537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Daily Scrum</a:t>
            </a:r>
            <a:endParaRPr lang="en-US" sz="1200" dirty="0"/>
          </a:p>
        </p:txBody>
      </p:sp>
      <p:sp>
        <p:nvSpPr>
          <p:cNvPr id="25" name="Shape 13"/>
          <p:cNvSpPr/>
          <p:nvPr/>
        </p:nvSpPr>
        <p:spPr>
          <a:xfrm>
            <a:off x="7235802" y="4162402"/>
            <a:ext cx="1454150" cy="1016393"/>
          </a:xfrm>
          <a:prstGeom prst="roundRect">
            <a:avLst>
              <a:gd name="adj" fmla="val 14682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26" name="Shape 14"/>
          <p:cNvSpPr/>
          <p:nvPr/>
        </p:nvSpPr>
        <p:spPr>
          <a:xfrm>
            <a:off x="7810453" y="427943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pic>
        <p:nvPicPr>
          <p:cNvPr id="27" name="Image 10" descr="ThumbsUp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892981" y="4361966"/>
            <a:ext cx="139700" cy="1397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7327438" y="4635038"/>
            <a:ext cx="12708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Demo &amp; Feedback</a:t>
            </a:r>
            <a:endParaRPr lang="en-US" sz="1200" dirty="0"/>
          </a:p>
        </p:txBody>
      </p:sp>
      <p:sp>
        <p:nvSpPr>
          <p:cNvPr id="29" name="Shape 16"/>
          <p:cNvSpPr/>
          <p:nvPr/>
        </p:nvSpPr>
        <p:spPr>
          <a:xfrm>
            <a:off x="5368902" y="5241902"/>
            <a:ext cx="1454150" cy="1016393"/>
          </a:xfrm>
          <a:prstGeom prst="roundRect">
            <a:avLst>
              <a:gd name="adj" fmla="val 14682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30" name="Shape 17"/>
          <p:cNvSpPr/>
          <p:nvPr/>
        </p:nvSpPr>
        <p:spPr>
          <a:xfrm>
            <a:off x="5943554" y="535893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/>
        </p:spPr>
      </p:sp>
      <p:pic>
        <p:nvPicPr>
          <p:cNvPr id="31" name="Image 11" descr="CheckCircle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026081" y="5441466"/>
            <a:ext cx="139700" cy="1397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460538" y="5714538"/>
            <a:ext cx="12708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Release Retrospective</a:t>
            </a:r>
            <a:endParaRPr lang="en-US" sz="1200" dirty="0"/>
          </a:p>
        </p:txBody>
      </p:sp>
      <p:sp>
        <p:nvSpPr>
          <p:cNvPr id="33" name="Shape 19"/>
          <p:cNvSpPr/>
          <p:nvPr/>
        </p:nvSpPr>
        <p:spPr>
          <a:xfrm>
            <a:off x="3502002" y="4162402"/>
            <a:ext cx="1454150" cy="1016393"/>
          </a:xfrm>
          <a:prstGeom prst="roundRect">
            <a:avLst>
              <a:gd name="adj" fmla="val 14682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34" name="Shape 20"/>
          <p:cNvSpPr/>
          <p:nvPr/>
        </p:nvSpPr>
        <p:spPr>
          <a:xfrm>
            <a:off x="4076654" y="427943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E3FB"/>
          </a:solidFill>
          <a:ln/>
        </p:spPr>
      </p:sp>
      <p:pic>
        <p:nvPicPr>
          <p:cNvPr id="35" name="Image 12" descr="Book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159181" y="4361966"/>
            <a:ext cx="139700" cy="13970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3593638" y="4635038"/>
            <a:ext cx="12708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Backlog Grooming</a:t>
            </a:r>
            <a:endParaRPr lang="en-US" sz="1200" dirty="0"/>
          </a:p>
        </p:txBody>
      </p:sp>
      <p:sp>
        <p:nvSpPr>
          <p:cNvPr id="37" name="Shape 22"/>
          <p:cNvSpPr/>
          <p:nvPr/>
        </p:nvSpPr>
        <p:spPr>
          <a:xfrm>
            <a:off x="3502002" y="2003402"/>
            <a:ext cx="1454150" cy="803033"/>
          </a:xfrm>
          <a:prstGeom prst="roundRect">
            <a:avLst>
              <a:gd name="adj" fmla="val 18583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38" name="Shape 23"/>
          <p:cNvSpPr/>
          <p:nvPr/>
        </p:nvSpPr>
        <p:spPr>
          <a:xfrm>
            <a:off x="4076654" y="212043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3F5E5"/>
          </a:solidFill>
          <a:ln/>
        </p:spPr>
      </p:sp>
      <p:pic>
        <p:nvPicPr>
          <p:cNvPr id="39" name="Image 13" descr="Chart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159181" y="2202966"/>
            <a:ext cx="139700" cy="1397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3743175" y="2476038"/>
            <a:ext cx="971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Story Sizing</a:t>
            </a:r>
            <a:endParaRPr lang="en-US" sz="1200" dirty="0"/>
          </a:p>
        </p:txBody>
      </p:sp>
      <p:sp>
        <p:nvSpPr>
          <p:cNvPr id="41" name="Shape 25"/>
          <p:cNvSpPr/>
          <p:nvPr/>
        </p:nvSpPr>
        <p:spPr>
          <a:xfrm>
            <a:off x="4813300" y="1892300"/>
            <a:ext cx="355600" cy="190500"/>
          </a:xfrm>
          <a:prstGeom prst="roundRect">
            <a:avLst>
              <a:gd name="adj" fmla="val 50000"/>
            </a:avLst>
          </a:prstGeom>
          <a:solidFill>
            <a:srgbClr val="E85C3B"/>
          </a:solidFill>
          <a:ln/>
          <a:effectLst>
            <a:outerShdw sx="100000" sy="100000" kx="0" ky="0" algn="bl" rotWithShape="0" blurRad="63500" dist="25400" dir="5400000">
              <a:srgbClr val="E85C3B">
                <a:alpha val="35000"/>
              </a:srgbClr>
            </a:outerShdw>
          </a:effectLst>
        </p:spPr>
      </p:sp>
      <p:sp>
        <p:nvSpPr>
          <p:cNvPr id="42" name="Text 26"/>
          <p:cNvSpPr/>
          <p:nvPr/>
        </p:nvSpPr>
        <p:spPr>
          <a:xfrm>
            <a:off x="4866040" y="1907540"/>
            <a:ext cx="300921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NEW</a:t>
            </a:r>
            <a:endParaRPr lang="en-US" sz="900" dirty="0"/>
          </a:p>
        </p:txBody>
      </p:sp>
      <p:sp>
        <p:nvSpPr>
          <p:cNvPr id="43" name="Shape 27"/>
          <p:cNvSpPr/>
          <p:nvPr/>
        </p:nvSpPr>
        <p:spPr>
          <a:xfrm>
            <a:off x="812800" y="6350000"/>
            <a:ext cx="10566400" cy="381000"/>
          </a:xfrm>
          <a:prstGeom prst="roundRect">
            <a:avLst>
              <a:gd name="adj" fmla="val 26667"/>
            </a:avLst>
          </a:prstGeom>
          <a:solidFill>
            <a:srgbClr val="E85C3B"/>
          </a:solidFill>
          <a:ln/>
          <a:effectLst>
            <a:outerShdw sx="100000" sy="100000" kx="0" ky="0" algn="bl" rotWithShape="0" blurRad="152400" dist="63500" dir="5400000">
              <a:srgbClr val="E85C3B">
                <a:alpha val="25000"/>
              </a:srgbClr>
            </a:outerShdw>
          </a:effectLst>
        </p:spPr>
      </p:sp>
      <p:pic>
        <p:nvPicPr>
          <p:cNvPr id="44" name="Image 14" descr="Sta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773542" y="6464300"/>
            <a:ext cx="152400" cy="15240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3002142" y="6433820"/>
            <a:ext cx="66088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Agile Poker was introduced this year for story sizing — and it's already proving effective.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8255000" y="4572000"/>
            <a:ext cx="3937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77400" y="177800"/>
            <a:ext cx="1701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CLS</a:t>
            </a:r>
            <a:r>
              <a:rPr lang="en-US" sz="1300" b="1" dirty="0">
                <a:solidFill>
                  <a:srgbClr val="E85C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Direct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177800"/>
            <a:ext cx="850265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2A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Process Maturity Journey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12800" y="520700"/>
            <a:ext cx="91567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a formal document to daily practice — and what's next.</a:t>
            </a:r>
            <a:endParaRPr lang="en-US" sz="1100" dirty="0"/>
          </a:p>
        </p:txBody>
      </p:sp>
      <p:pic>
        <p:nvPicPr>
          <p:cNvPr id="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36727" y="3175000"/>
            <a:ext cx="2857500" cy="127000"/>
          </a:xfrm>
          <a:prstGeom prst="rect">
            <a:avLst/>
          </a:prstGeom>
        </p:spPr>
      </p:pic>
      <p:pic>
        <p:nvPicPr>
          <p:cNvPr id="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7227" y="3175000"/>
            <a:ext cx="2857500" cy="127000"/>
          </a:xfrm>
          <a:prstGeom prst="rect">
            <a:avLst/>
          </a:prstGeom>
        </p:spPr>
      </p:pic>
      <p:pic>
        <p:nvPicPr>
          <p:cNvPr id="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97727" y="3175000"/>
            <a:ext cx="2857500" cy="127000"/>
          </a:xfrm>
          <a:prstGeom prst="rect">
            <a:avLst/>
          </a:prstGeom>
        </p:spPr>
      </p:pic>
      <p:pic>
        <p:nvPicPr>
          <p:cNvPr id="9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45200" y="2362200"/>
            <a:ext cx="101600" cy="18796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5461000" y="2235200"/>
            <a:ext cx="1270000" cy="297180"/>
          </a:xfrm>
          <a:prstGeom prst="roundRect">
            <a:avLst>
              <a:gd name="adj" fmla="val 50000"/>
            </a:avLst>
          </a:prstGeom>
          <a:solidFill>
            <a:srgbClr val="0F2A54"/>
          </a:solidFill>
          <a:ln/>
        </p:spPr>
      </p:sp>
      <p:sp>
        <p:nvSpPr>
          <p:cNvPr id="11" name="Text 4"/>
          <p:cNvSpPr/>
          <p:nvPr/>
        </p:nvSpPr>
        <p:spPr>
          <a:xfrm>
            <a:off x="5549900" y="2286000"/>
            <a:ext cx="1092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1100" dirty="0"/>
          </a:p>
        </p:txBody>
      </p:sp>
      <p:sp>
        <p:nvSpPr>
          <p:cNvPr id="12" name="Shape 5"/>
          <p:cNvSpPr/>
          <p:nvPr/>
        </p:nvSpPr>
        <p:spPr>
          <a:xfrm>
            <a:off x="860402" y="2479675"/>
            <a:ext cx="2279650" cy="1458353"/>
          </a:xfrm>
          <a:prstGeom prst="roundRect">
            <a:avLst>
              <a:gd name="adj" fmla="val 10232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1610268" y="2634811"/>
            <a:ext cx="83067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0F2A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 YEAR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1822427" y="288119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2E8F5"/>
          </a:solidFill>
          <a:ln/>
        </p:spPr>
      </p:sp>
      <p:pic>
        <p:nvPicPr>
          <p:cNvPr id="15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917654" y="2976418"/>
            <a:ext cx="165100" cy="1651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69000" y="3287592"/>
            <a:ext cx="166240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Process Formalized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986806" y="3569531"/>
            <a:ext cx="20268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Documented and rolled out.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3590902" y="2479675"/>
            <a:ext cx="2279650" cy="1671712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6350">
            <a:solidFill>
              <a:srgbClr val="ECE6DA"/>
            </a:solidFill>
            <a:prstDash val="solid"/>
          </a:ln>
          <a:effectLst>
            <a:outerShdw sx="100000" sy="100000" kx="0" ky="0" algn="bl" rotWithShape="0" blurRad="139700" dist="63500" dir="5400000">
              <a:srgbClr val="24262B">
                <a:alpha val="6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4359471" y="2634811"/>
            <a:ext cx="79326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C143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YEAR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552927" y="288119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E3DE"/>
          </a:solidFill>
          <a:ln/>
        </p:spPr>
      </p:sp>
      <p:pic>
        <p:nvPicPr>
          <p:cNvPr id="21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48154" y="2976418"/>
            <a:ext cx="165100" cy="1651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004841" y="3287592"/>
            <a:ext cx="14517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Put Into Practice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3716498" y="3569531"/>
            <a:ext cx="20284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and discipline made it stick.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6321402" y="2479675"/>
            <a:ext cx="2279650" cy="1671712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6350">
            <a:solidFill>
              <a:srgbClr val="C9CDD3"/>
            </a:solidFill>
            <a:prstDash val="dash"/>
          </a:ln>
          <a:effectLst>
            <a:outerShdw sx="100000" sy="100000" kx="0" ky="0" algn="bl" rotWithShape="0" blurRad="114300" dist="50800" dir="5400000">
              <a:srgbClr val="24262B">
                <a:alpha val="4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7271512" y="2634811"/>
            <a:ext cx="43023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7283427" y="288119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pic>
        <p:nvPicPr>
          <p:cNvPr id="27" name="Image 7" descr="Boo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378653" y="2976418"/>
            <a:ext cx="165100" cy="1651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638406" y="3287592"/>
            <a:ext cx="16455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Doc Updated to v1.1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6446998" y="3569531"/>
            <a:ext cx="20284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Estimation process fully described.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9051902" y="2479675"/>
            <a:ext cx="2279650" cy="1671712"/>
          </a:xfrm>
          <a:prstGeom prst="roundRect">
            <a:avLst>
              <a:gd name="adj" fmla="val 8926"/>
            </a:avLst>
          </a:prstGeom>
          <a:solidFill>
            <a:srgbClr val="FFFFFF"/>
          </a:solidFill>
          <a:ln w="6350">
            <a:solidFill>
              <a:srgbClr val="C9CDD3"/>
            </a:solidFill>
            <a:prstDash val="dash"/>
          </a:ln>
          <a:effectLst>
            <a:outerShdw sx="100000" sy="100000" kx="0" ky="0" algn="bl" rotWithShape="0" blurRad="114300" dist="50800" dir="5400000">
              <a:srgbClr val="24262B">
                <a:alpha val="4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9998225" y="2634811"/>
            <a:ext cx="4378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10013927" y="288119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/>
        </p:spPr>
      </p:sp>
      <p:pic>
        <p:nvPicPr>
          <p:cNvPr id="33" name="Image 8" descr="PaperPlan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109154" y="2976418"/>
            <a:ext cx="165100" cy="1651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232819" y="3287592"/>
            <a:ext cx="19177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Published for Approval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9177497" y="3569531"/>
            <a:ext cx="20284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Goes to management for sign-off.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654304" y="63906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8F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steps done, two steps ahead — the discipline is already paying off.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CLSDirect Project Team</dc:title>
  <dc:subject>PptxGenJS Presentation</dc:subject>
  <dc:creator>PptxGenJS</dc:creator>
  <cp:lastModifiedBy>PptxGenJS</cp:lastModifiedBy>
  <cp:revision>1</cp:revision>
  <dcterms:created xsi:type="dcterms:W3CDTF">2026-09-27T18:48:27Z</dcterms:created>
  <dcterms:modified xsi:type="dcterms:W3CDTF">2026-09-27T18:48:27Z</dcterms:modified>
</cp:coreProperties>
</file>